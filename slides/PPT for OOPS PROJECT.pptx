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 autoAdjust="0"/>
    <p:restoredTop sz="94610"/>
  </p:normalViewPr>
  <p:slideViewPr>
    <p:cSldViewPr snapToGrid="0" snapToObjects="1">
      <p:cViewPr>
        <p:scale>
          <a:sx n="70" d="100"/>
          <a:sy n="70" d="100"/>
        </p:scale>
        <p:origin x="46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24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FC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FC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Appointment Management System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0808208" y="29260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12213A">
              <a:alpha val="88000"/>
            </a:srgbClr>
          </a:solidFill>
          <a:ln w="12700">
            <a:solidFill>
              <a:srgbClr val="334A6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08208" y="310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6C6D8"/>
                </a:solidFill>
              </a:rPr>
              <a:t>1/5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5240">
            <a:solidFill>
              <a:srgbClr val="334A62">
                <a:alpha val="8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7" y="981188"/>
            <a:ext cx="2049051" cy="271537"/>
          </a:xfrm>
          <a:prstGeom prst="roundRect">
            <a:avLst>
              <a:gd name="adj" fmla="val 25000"/>
            </a:avLst>
          </a:prstGeom>
          <a:solidFill>
            <a:srgbClr val="56CCF2">
              <a:alpha val="86000"/>
            </a:srgbClr>
          </a:solidFill>
          <a:ln w="12700">
            <a:solidFill>
              <a:srgbClr val="56CCF2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7" y="978407"/>
            <a:ext cx="1937733" cy="32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TERM-II INDIVIDUAL PROJECT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" y="13258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Scheduling + Smart Slot Suggestion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66928" y="23317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B6C6D8"/>
                </a:solidFill>
              </a:rPr>
              <a:t>Manual hospital booking often causes slot clashes, long waits and missed urgent cases. This project automates scheduling while preserving a beginner-friendly, modular Java design.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566928" y="3794760"/>
            <a:ext cx="4709160" cy="1965960"/>
          </a:xfrm>
          <a:prstGeom prst="roundRect">
            <a:avLst>
              <a:gd name="adj" fmla="val 6512"/>
            </a:avLst>
          </a:prstGeom>
          <a:solidFill>
            <a:srgbClr val="111A2B">
              <a:alpha val="97000"/>
            </a:srgbClr>
          </a:solidFill>
          <a:ln w="15240">
            <a:solidFill>
              <a:srgbClr val="334A62">
                <a:alpha val="8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7FC"/>
                </a:solidFill>
              </a:rPr>
              <a:t>Target users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6384" y="4370832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reception staff who book and cancel appointments
</a:t>
            </a:r>
            <a:r>
              <a:rPr lang="en-US" sz="1650" b="1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Doctors who need conflict-free daily slots
</a:t>
            </a:r>
            <a:r>
              <a:rPr lang="en-US" sz="1650" b="1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who need faster and fairer booking, especially urgent cases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5989320" y="1097280"/>
            <a:ext cx="5577840" cy="5212080"/>
          </a:xfrm>
          <a:prstGeom prst="roundRect">
            <a:avLst>
              <a:gd name="adj" fmla="val 2456"/>
            </a:avLst>
          </a:prstGeom>
          <a:solidFill>
            <a:srgbClr val="10192A"/>
          </a:solidFill>
          <a:ln w="15240">
            <a:solidFill>
              <a:srgbClr val="334A6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1463040"/>
            <a:ext cx="2697480" cy="1371600"/>
          </a:xfrm>
          <a:prstGeom prst="roundRect">
            <a:avLst>
              <a:gd name="adj" fmla="val 9333"/>
            </a:avLst>
          </a:prstGeom>
          <a:solidFill>
            <a:srgbClr val="122641"/>
          </a:solidFill>
          <a:ln w="15240">
            <a:solidFill>
              <a:srgbClr val="56CCF2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33688" y="1463040"/>
            <a:ext cx="2240280" cy="1371600"/>
          </a:xfrm>
          <a:prstGeom prst="roundRect">
            <a:avLst>
              <a:gd name="adj" fmla="val 9333"/>
            </a:avLst>
          </a:prstGeom>
          <a:solidFill>
            <a:srgbClr val="2A1B3D"/>
          </a:solidFill>
          <a:ln w="15240">
            <a:solidFill>
              <a:srgbClr val="9B51E0">
                <a:alpha val="5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063240"/>
            <a:ext cx="5047488" cy="1463040"/>
          </a:xfrm>
          <a:prstGeom prst="roundRect">
            <a:avLst>
              <a:gd name="adj" fmla="val 8750"/>
            </a:avLst>
          </a:prstGeom>
          <a:solidFill>
            <a:srgbClr val="1B2438"/>
          </a:solidFill>
          <a:ln w="15240">
            <a:solidFill>
              <a:srgbClr val="3DDC97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4773168"/>
            <a:ext cx="2377440" cy="1097280"/>
          </a:xfrm>
          <a:prstGeom prst="roundRect">
            <a:avLst>
              <a:gd name="adj" fmla="val 11667"/>
            </a:avLst>
          </a:prstGeom>
          <a:solidFill>
            <a:srgbClr val="2F2915"/>
          </a:solidFill>
          <a:ln w="15240">
            <a:solidFill>
              <a:srgbClr val="F2C94C">
                <a:alpha val="5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778240" y="4773168"/>
            <a:ext cx="2395728" cy="1097280"/>
          </a:xfrm>
          <a:prstGeom prst="roundRect">
            <a:avLst>
              <a:gd name="adj" fmla="val 11667"/>
            </a:avLst>
          </a:prstGeom>
          <a:solidFill>
            <a:srgbClr val="311A22"/>
          </a:solidFill>
          <a:ln w="15240">
            <a:solidFill>
              <a:srgbClr val="FF6B6B">
                <a:alpha val="5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63056" y="1152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7FC"/>
                </a:solidFill>
              </a:rPr>
              <a:t>Why this project matters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5508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C"/>
                </a:solidFill>
              </a:rPr>
              <a:t>Eliminates double booking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125712" y="17922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7FC"/>
                </a:solidFill>
              </a:rPr>
              <a:t>Fair handling for emergency and senior patients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5508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</a:rPr>
              <a:t>Core advanced feature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55080" y="36576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3F7FC"/>
                </a:solidFill>
              </a:rPr>
              <a:t>If a higher-priority patient requests an occupied slot, the system books the urgent case first and automatically reschedules the lower-priority booking to the next free slot.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6510528" y="5074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94C"/>
                </a:solidFill>
              </a:rPr>
              <a:t>Beginner-safe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55080" y="5321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F7FC"/>
                </a:solidFill>
              </a:rPr>
              <a:t>Flat classes, clear packages, text-file storage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052560" y="50749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Presentation focus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906256" y="5321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3F7FC"/>
                </a:solidFill>
              </a:rPr>
              <a:t>Show one normal booking, one priority conflict and one error case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FC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" y="-4572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0808208" y="29260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12213A">
              <a:alpha val="88000"/>
            </a:srgbClr>
          </a:solidFill>
          <a:ln w="12700">
            <a:solidFill>
              <a:srgbClr val="334A6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08208" y="310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6C6D8"/>
                </a:solidFill>
              </a:rPr>
              <a:t>2/5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5240">
            <a:solidFill>
              <a:srgbClr val="334A62">
                <a:alpha val="8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12848" y="1655064"/>
            <a:ext cx="914400" cy="0"/>
          </a:xfrm>
          <a:prstGeom prst="line">
            <a:avLst/>
          </a:prstGeom>
          <a:noFill/>
          <a:ln w="25400">
            <a:solidFill>
              <a:srgbClr val="56CCF2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718304" y="1655064"/>
            <a:ext cx="914400" cy="0"/>
          </a:xfrm>
          <a:prstGeom prst="line">
            <a:avLst/>
          </a:prstGeom>
          <a:noFill/>
          <a:ln w="25400">
            <a:solidFill>
              <a:srgbClr val="56CCF2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845552" y="1527048"/>
            <a:ext cx="731520" cy="0"/>
          </a:xfrm>
          <a:prstGeom prst="line">
            <a:avLst/>
          </a:prstGeom>
          <a:noFill/>
          <a:ln w="22860">
            <a:solidFill>
              <a:srgbClr val="56CCF2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845552" y="1792224"/>
            <a:ext cx="731520" cy="274320"/>
          </a:xfrm>
          <a:prstGeom prst="line">
            <a:avLst/>
          </a:prstGeom>
          <a:noFill/>
          <a:ln w="22860">
            <a:solidFill>
              <a:srgbClr val="9B51E0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77240" y="1298448"/>
            <a:ext cx="1435608" cy="713232"/>
          </a:xfrm>
          <a:prstGeom prst="roundRect">
            <a:avLst>
              <a:gd name="adj" fmla="val 17949"/>
            </a:avLst>
          </a:prstGeom>
          <a:solidFill>
            <a:srgbClr val="121C2F">
              <a:alpha val="92000"/>
            </a:srgbClr>
          </a:solidFill>
          <a:ln w="20320">
            <a:solidFill>
              <a:srgbClr val="56CCF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6968" y="146304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3F7FC"/>
                </a:solidFill>
              </a:rPr>
              <a:t>Console UI / Main</a:t>
            </a:r>
            <a:endParaRPr lang="en-US" sz="1620" dirty="0"/>
          </a:p>
        </p:txBody>
      </p:sp>
      <p:sp>
        <p:nvSpPr>
          <p:cNvPr id="13" name="Shape 10"/>
          <p:cNvSpPr/>
          <p:nvPr/>
        </p:nvSpPr>
        <p:spPr>
          <a:xfrm>
            <a:off x="3127248" y="1298448"/>
            <a:ext cx="1591056" cy="713232"/>
          </a:xfrm>
          <a:prstGeom prst="roundRect">
            <a:avLst>
              <a:gd name="adj" fmla="val 17949"/>
            </a:avLst>
          </a:prstGeom>
          <a:solidFill>
            <a:srgbClr val="121C2F">
              <a:alpha val="92000"/>
            </a:srgbClr>
          </a:solidFill>
          <a:ln w="20320">
            <a:solidFill>
              <a:srgbClr val="3DDC97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36976" y="14630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3F7FC"/>
                </a:solidFill>
              </a:rPr>
              <a:t>HospitalManager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F3F7FC"/>
                </a:solidFill>
              </a:rPr>
              <a:t>(service logic)</a:t>
            </a:r>
            <a:endParaRPr lang="en-US" sz="1620" dirty="0"/>
          </a:p>
        </p:txBody>
      </p:sp>
      <p:sp>
        <p:nvSpPr>
          <p:cNvPr id="15" name="Shape 12"/>
          <p:cNvSpPr/>
          <p:nvPr/>
        </p:nvSpPr>
        <p:spPr>
          <a:xfrm>
            <a:off x="5632704" y="1298448"/>
            <a:ext cx="2212848" cy="713232"/>
          </a:xfrm>
          <a:prstGeom prst="roundRect">
            <a:avLst>
              <a:gd name="adj" fmla="val 17949"/>
            </a:avLst>
          </a:prstGeom>
          <a:solidFill>
            <a:srgbClr val="121C2F">
              <a:alpha val="92000"/>
            </a:srgbClr>
          </a:solidFill>
          <a:ln w="20320">
            <a:solidFill>
              <a:srgbClr val="F2C94C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42432" y="146304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3F7FC"/>
                </a:solidFill>
              </a:rPr>
              <a:t>Model objects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F3F7FC"/>
                </a:solidFill>
              </a:rPr>
              <a:t>Patient / Doctor / Appointment</a:t>
            </a:r>
            <a:endParaRPr lang="en-US" sz="1620" dirty="0"/>
          </a:p>
        </p:txBody>
      </p:sp>
      <p:sp>
        <p:nvSpPr>
          <p:cNvPr id="17" name="Shape 14"/>
          <p:cNvSpPr/>
          <p:nvPr/>
        </p:nvSpPr>
        <p:spPr>
          <a:xfrm>
            <a:off x="8577072" y="1755648"/>
            <a:ext cx="1463040" cy="768096"/>
          </a:xfrm>
          <a:prstGeom prst="roundRect">
            <a:avLst>
              <a:gd name="adj" fmla="val 16667"/>
            </a:avLst>
          </a:prstGeom>
          <a:solidFill>
            <a:srgbClr val="121C2F">
              <a:alpha val="92000"/>
            </a:srgbClr>
          </a:solidFill>
          <a:ln w="20320">
            <a:solidFill>
              <a:srgbClr val="9B51E0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86800" y="192024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3F7FC"/>
                </a:solidFill>
              </a:rPr>
              <a:t>FileHandler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F3F7FC"/>
                </a:solidFill>
              </a:rPr>
              <a:t>(text persistence)</a:t>
            </a:r>
            <a:endParaRPr lang="en-US" sz="1620" dirty="0"/>
          </a:p>
        </p:txBody>
      </p:sp>
      <p:sp>
        <p:nvSpPr>
          <p:cNvPr id="19" name="Text 16"/>
          <p:cNvSpPr/>
          <p:nvPr/>
        </p:nvSpPr>
        <p:spPr>
          <a:xfrm>
            <a:off x="749808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B6C6D8"/>
                </a:solidFill>
              </a:rPr>
              <a:t>User input + menu validation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3090672" y="216712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B6C6D8"/>
                </a:solidFill>
              </a:rPr>
              <a:t>Rules + priority decisions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5669280" y="2057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B6C6D8"/>
                </a:solidFill>
              </a:rPr>
              <a:t>Domain data used across flow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8659368" y="259689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B6C6D8"/>
                </a:solidFill>
              </a:rPr>
              <a:t>save/load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10149840" y="1005840"/>
            <a:ext cx="1325880" cy="1463040"/>
          </a:xfrm>
          <a:prstGeom prst="roundRect">
            <a:avLst>
              <a:gd name="adj" fmla="val 9655"/>
            </a:avLst>
          </a:prstGeom>
          <a:solidFill>
            <a:srgbClr val="111A2B"/>
          </a:solidFill>
          <a:ln w="15240">
            <a:solidFill>
              <a:srgbClr val="334A6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250424" y="1133856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7FC"/>
                </a:solidFill>
              </a:rPr>
              <a:t>Package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3F7FC"/>
                </a:solidFill>
              </a:rPr>
              <a:t>structure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0222992" y="1609344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6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6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6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6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Main.java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4360" y="2770632"/>
            <a:ext cx="10972800" cy="3886200"/>
          </a:xfrm>
          <a:prstGeom prst="roundRect">
            <a:avLst>
              <a:gd name="adj" fmla="val 3665"/>
            </a:avLst>
          </a:prstGeom>
          <a:solidFill>
            <a:srgbClr val="0F1728"/>
          </a:solidFill>
          <a:ln w="15240">
            <a:solidFill>
              <a:srgbClr val="334A6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4360" y="2775204"/>
            <a:ext cx="2057400" cy="411479"/>
          </a:xfrm>
          <a:prstGeom prst="roundRect">
            <a:avLst>
              <a:gd name="adj" fmla="val 25000"/>
            </a:avLst>
          </a:prstGeom>
          <a:solidFill>
            <a:srgbClr val="9B51E0">
              <a:alpha val="86000"/>
            </a:srgbClr>
          </a:solidFill>
          <a:ln w="12700">
            <a:solidFill>
              <a:srgbClr val="9B51E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28895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CORRECTED UML CLASS DIAGRAM</a:t>
            </a:r>
            <a:endParaRPr lang="en-US" sz="1050" dirty="0"/>
          </a:p>
        </p:txBody>
      </p:sp>
      <p:pic>
        <p:nvPicPr>
          <p:cNvPr id="29" name="Image 1" descr="/mnt/data/slides_work/um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" y="3255264"/>
            <a:ext cx="5967984" cy="29900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Shape 26"/>
          <p:cNvSpPr/>
          <p:nvPr/>
        </p:nvSpPr>
        <p:spPr>
          <a:xfrm>
            <a:off x="7726680" y="3236976"/>
            <a:ext cx="3657600" cy="2999232"/>
          </a:xfrm>
          <a:prstGeom prst="roundRect">
            <a:avLst>
              <a:gd name="adj" fmla="val 4965"/>
            </a:avLst>
          </a:prstGeom>
          <a:solidFill>
            <a:srgbClr val="121D31"/>
          </a:solidFill>
          <a:ln w="15240">
            <a:solidFill>
              <a:srgbClr val="334A6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955280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7FC"/>
                </a:solidFill>
              </a:rPr>
              <a:t>Key classes &amp; responsibilities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7936992" y="3730752"/>
            <a:ext cx="31546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b="1" dirty="0">
                <a:solidFill>
                  <a:srgbClr val="3DDC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stores identity, age, medical issue and priority type.
</a:t>
            </a:r>
            <a:r>
              <a:rPr lang="en-US" sz="1420" b="1" dirty="0">
                <a:solidFill>
                  <a:srgbClr val="3DDC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stores specialization and is referenced during booking.
</a:t>
            </a:r>
            <a:r>
              <a:rPr lang="en-US" sz="1420" b="1" dirty="0">
                <a:solidFill>
                  <a:srgbClr val="3DDC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captures slot, linked names/IDs, priority and current status.
</a:t>
            </a:r>
            <a:r>
              <a:rPr lang="en-US" sz="1420" b="1" dirty="0">
                <a:solidFill>
                  <a:srgbClr val="3DDC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HospitalManager owns business rules: search, booking, rescheduling and cancellation.
</a:t>
            </a:r>
            <a:r>
              <a:rPr lang="en-US" sz="1420" b="1" dirty="0">
                <a:solidFill>
                  <a:srgbClr val="3DDC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FileHandler provides lightweight persistence through text files.</a:t>
            </a:r>
            <a:endParaRPr lang="en-US" sz="1420" dirty="0"/>
          </a:p>
        </p:txBody>
      </p:sp>
      <p:sp>
        <p:nvSpPr>
          <p:cNvPr id="33" name="Text 29"/>
          <p:cNvSpPr/>
          <p:nvPr/>
        </p:nvSpPr>
        <p:spPr>
          <a:xfrm>
            <a:off x="633984" y="6364224"/>
            <a:ext cx="842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6D8"/>
                </a:solidFill>
              </a:rPr>
              <a:t>Interaction flow: Main collects input → HospitalManager validates rules → Appointment list updates → FileHandler saves/loads data.</a:t>
            </a:r>
            <a:endParaRPr lang="en-US" sz="11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FC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OOP Concepts Used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0808208" y="29260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12213A">
              <a:alpha val="88000"/>
            </a:srgbClr>
          </a:solidFill>
          <a:ln w="12700">
            <a:solidFill>
              <a:srgbClr val="334A6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08208" y="310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6C6D8"/>
                </a:solidFill>
              </a:rPr>
              <a:t>3/5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5240">
            <a:solidFill>
              <a:srgbClr val="334A62">
                <a:alpha val="8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078992"/>
            <a:ext cx="5349240" cy="2240280"/>
          </a:xfrm>
          <a:prstGeom prst="roundRect">
            <a:avLst>
              <a:gd name="adj" fmla="val 5714"/>
            </a:avLst>
          </a:prstGeom>
          <a:solidFill>
            <a:srgbClr val="121C2F"/>
          </a:solidFill>
          <a:ln w="20320">
            <a:solidFill>
              <a:srgbClr val="56CCF2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1243584"/>
            <a:ext cx="1417320" cy="256032"/>
          </a:xfrm>
          <a:prstGeom prst="roundRect">
            <a:avLst>
              <a:gd name="adj" fmla="val 25000"/>
            </a:avLst>
          </a:prstGeom>
          <a:solidFill>
            <a:srgbClr val="56CCF2">
              <a:alpha val="86000"/>
            </a:srgbClr>
          </a:solidFill>
          <a:ln w="12700">
            <a:solidFill>
              <a:srgbClr val="56CCF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2618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ABSTRACTION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77824" y="1645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3F7FC"/>
                </a:solidFill>
              </a:rPr>
              <a:t>Where used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877824" y="1865376"/>
            <a:ext cx="4928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B6C6D8"/>
                </a:solidFill>
              </a:rPr>
              <a:t>Main.java calls manager methods instead of embedding booking rules.</a:t>
            </a:r>
            <a:endParaRPr lang="en-US" sz="1410" dirty="0"/>
          </a:p>
        </p:txBody>
      </p:sp>
      <p:sp>
        <p:nvSpPr>
          <p:cNvPr id="12" name="Text 9"/>
          <p:cNvSpPr/>
          <p:nvPr/>
        </p:nvSpPr>
        <p:spPr>
          <a:xfrm>
            <a:off x="877824" y="2596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3F7FC"/>
                </a:solidFill>
              </a:rPr>
              <a:t>Why it matters</a:t>
            </a:r>
            <a:endParaRPr lang="en-US" sz="1330" dirty="0"/>
          </a:p>
        </p:txBody>
      </p:sp>
      <p:sp>
        <p:nvSpPr>
          <p:cNvPr id="13" name="Text 10"/>
          <p:cNvSpPr/>
          <p:nvPr/>
        </p:nvSpPr>
        <p:spPr>
          <a:xfrm>
            <a:off x="877824" y="2816352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B6C6D8"/>
                </a:solidFill>
              </a:rPr>
              <a:t>The menu stays simple while HospitalManager hides the complex decision logic.</a:t>
            </a:r>
            <a:endParaRPr lang="en-US" sz="1410" dirty="0"/>
          </a:p>
        </p:txBody>
      </p:sp>
      <p:sp>
        <p:nvSpPr>
          <p:cNvPr id="14" name="Shape 11"/>
          <p:cNvSpPr/>
          <p:nvPr/>
        </p:nvSpPr>
        <p:spPr>
          <a:xfrm>
            <a:off x="6190488" y="1078992"/>
            <a:ext cx="5349240" cy="2240280"/>
          </a:xfrm>
          <a:prstGeom prst="roundRect">
            <a:avLst>
              <a:gd name="adj" fmla="val 5714"/>
            </a:avLst>
          </a:prstGeom>
          <a:solidFill>
            <a:srgbClr val="121C2F"/>
          </a:solidFill>
          <a:ln w="20320">
            <a:solidFill>
              <a:srgbClr val="9B51E0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73368" y="1243584"/>
            <a:ext cx="1417320" cy="256032"/>
          </a:xfrm>
          <a:prstGeom prst="roundRect">
            <a:avLst>
              <a:gd name="adj" fmla="val 25000"/>
            </a:avLst>
          </a:prstGeom>
          <a:solidFill>
            <a:srgbClr val="9B51E0">
              <a:alpha val="86000"/>
            </a:srgbClr>
          </a:solidFill>
          <a:ln w="12700">
            <a:solidFill>
              <a:srgbClr val="9B51E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3368" y="12618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INHERITANCE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9944" y="1645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3F7FC"/>
                </a:solidFill>
              </a:rPr>
              <a:t>Where used</a:t>
            </a:r>
            <a:endParaRPr lang="en-US" sz="1330" dirty="0"/>
          </a:p>
        </p:txBody>
      </p:sp>
      <p:sp>
        <p:nvSpPr>
          <p:cNvPr id="18" name="Text 15"/>
          <p:cNvSpPr/>
          <p:nvPr/>
        </p:nvSpPr>
        <p:spPr>
          <a:xfrm>
            <a:off x="6409944" y="1865376"/>
            <a:ext cx="4928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B6C6D8"/>
                </a:solidFill>
              </a:rPr>
              <a:t>No explicit custom inheritance is used in the submitted code.</a:t>
            </a:r>
            <a:endParaRPr lang="en-US" sz="1410" dirty="0"/>
          </a:p>
        </p:txBody>
      </p:sp>
      <p:sp>
        <p:nvSpPr>
          <p:cNvPr id="19" name="Text 16"/>
          <p:cNvSpPr/>
          <p:nvPr/>
        </p:nvSpPr>
        <p:spPr>
          <a:xfrm>
            <a:off x="6409944" y="2596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3F7FC"/>
                </a:solidFill>
              </a:rPr>
              <a:t>Why this is acceptable</a:t>
            </a:r>
            <a:endParaRPr lang="en-US" sz="1330" dirty="0"/>
          </a:p>
        </p:txBody>
      </p:sp>
      <p:sp>
        <p:nvSpPr>
          <p:cNvPr id="20" name="Text 17"/>
          <p:cNvSpPr/>
          <p:nvPr/>
        </p:nvSpPr>
        <p:spPr>
          <a:xfrm>
            <a:off x="6409944" y="2816352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B6C6D8"/>
                </a:solidFill>
              </a:rPr>
              <a:t>The project intentionally uses a flat model to stay beginner-friendly and easier to debug. A future extension could introduce a Person base class for Patient and Doctor.</a:t>
            </a:r>
            <a:endParaRPr lang="en-US" sz="1410" dirty="0"/>
          </a:p>
        </p:txBody>
      </p:sp>
      <p:sp>
        <p:nvSpPr>
          <p:cNvPr id="21" name="Shape 18"/>
          <p:cNvSpPr/>
          <p:nvPr/>
        </p:nvSpPr>
        <p:spPr>
          <a:xfrm>
            <a:off x="658368" y="3611880"/>
            <a:ext cx="5349240" cy="2423160"/>
          </a:xfrm>
          <a:prstGeom prst="roundRect">
            <a:avLst>
              <a:gd name="adj" fmla="val 5283"/>
            </a:avLst>
          </a:prstGeom>
          <a:solidFill>
            <a:srgbClr val="121C2F"/>
          </a:solidFill>
          <a:ln w="20320">
            <a:solidFill>
              <a:srgbClr val="3DDC97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41248" y="3776472"/>
            <a:ext cx="1417320" cy="256032"/>
          </a:xfrm>
          <a:prstGeom prst="roundRect">
            <a:avLst>
              <a:gd name="adj" fmla="val 25000"/>
            </a:avLst>
          </a:prstGeom>
          <a:solidFill>
            <a:srgbClr val="3DDC97">
              <a:alpha val="86000"/>
            </a:srgbClr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37947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POLYMORPHISM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77824" y="4178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3F7FC"/>
                </a:solidFill>
              </a:rPr>
              <a:t>Where used</a:t>
            </a:r>
            <a:endParaRPr lang="en-US" sz="1330" dirty="0"/>
          </a:p>
        </p:txBody>
      </p:sp>
      <p:sp>
        <p:nvSpPr>
          <p:cNvPr id="25" name="Text 22"/>
          <p:cNvSpPr/>
          <p:nvPr/>
        </p:nvSpPr>
        <p:spPr>
          <a:xfrm>
            <a:off x="877824" y="4398264"/>
            <a:ext cx="4928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B6C6D8"/>
                </a:solidFill>
              </a:rPr>
              <a:t>Each model class overrides toString(), and the same println(object) flow prints different object types correctly.</a:t>
            </a:r>
            <a:endParaRPr lang="en-US" sz="1410" dirty="0"/>
          </a:p>
        </p:txBody>
      </p:sp>
      <p:sp>
        <p:nvSpPr>
          <p:cNvPr id="26" name="Text 23"/>
          <p:cNvSpPr/>
          <p:nvPr/>
        </p:nvSpPr>
        <p:spPr>
          <a:xfrm>
            <a:off x="877824" y="5129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3F7FC"/>
                </a:solidFill>
              </a:rPr>
              <a:t>Why it matters</a:t>
            </a:r>
            <a:endParaRPr lang="en-US" sz="1330" dirty="0"/>
          </a:p>
        </p:txBody>
      </p:sp>
      <p:sp>
        <p:nvSpPr>
          <p:cNvPr id="27" name="Text 24"/>
          <p:cNvSpPr/>
          <p:nvPr/>
        </p:nvSpPr>
        <p:spPr>
          <a:xfrm>
            <a:off x="877824" y="5349240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B6C6D8"/>
                </a:solidFill>
              </a:rPr>
              <a:t>This gives one common print mechanism while each class controls its own display format.</a:t>
            </a:r>
            <a:endParaRPr lang="en-US" sz="1410" dirty="0"/>
          </a:p>
        </p:txBody>
      </p:sp>
      <p:sp>
        <p:nvSpPr>
          <p:cNvPr id="28" name="Shape 25"/>
          <p:cNvSpPr/>
          <p:nvPr/>
        </p:nvSpPr>
        <p:spPr>
          <a:xfrm>
            <a:off x="6190488" y="3611880"/>
            <a:ext cx="5349240" cy="2423160"/>
          </a:xfrm>
          <a:prstGeom prst="roundRect">
            <a:avLst>
              <a:gd name="adj" fmla="val 5283"/>
            </a:avLst>
          </a:prstGeom>
          <a:solidFill>
            <a:srgbClr val="121C2F"/>
          </a:solidFill>
          <a:ln w="20320">
            <a:solidFill>
              <a:srgbClr val="F2C94C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73368" y="377647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F2C94C">
              <a:alpha val="86000"/>
            </a:srgbClr>
          </a:solidFill>
          <a:ln w="12700">
            <a:solidFill>
              <a:srgbClr val="F2C94C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73368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DESIGN CHOICE / PATTERN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09944" y="4178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3F7FC"/>
                </a:solidFill>
              </a:rPr>
              <a:t>Applied structure</a:t>
            </a:r>
            <a:endParaRPr lang="en-US" sz="1330" dirty="0"/>
          </a:p>
        </p:txBody>
      </p:sp>
      <p:sp>
        <p:nvSpPr>
          <p:cNvPr id="32" name="Text 29"/>
          <p:cNvSpPr/>
          <p:nvPr/>
        </p:nvSpPr>
        <p:spPr>
          <a:xfrm>
            <a:off x="6409944" y="4398264"/>
            <a:ext cx="4928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B6C6D8"/>
                </a:solidFill>
              </a:rPr>
              <a:t>The project follows a lightweight layered structure: model + service + util + Main.</a:t>
            </a:r>
            <a:endParaRPr lang="en-US" sz="1410" dirty="0"/>
          </a:p>
        </p:txBody>
      </p:sp>
      <p:sp>
        <p:nvSpPr>
          <p:cNvPr id="33" name="Text 30"/>
          <p:cNvSpPr/>
          <p:nvPr/>
        </p:nvSpPr>
        <p:spPr>
          <a:xfrm>
            <a:off x="6409944" y="5129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3F7FC"/>
                </a:solidFill>
              </a:rPr>
              <a:t>Reason</a:t>
            </a:r>
            <a:endParaRPr lang="en-US" sz="1330" dirty="0"/>
          </a:p>
        </p:txBody>
      </p:sp>
      <p:sp>
        <p:nvSpPr>
          <p:cNvPr id="34" name="Text 31"/>
          <p:cNvSpPr/>
          <p:nvPr/>
        </p:nvSpPr>
        <p:spPr>
          <a:xfrm>
            <a:off x="6409944" y="5349240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B6C6D8"/>
                </a:solidFill>
              </a:rPr>
              <a:t>A formal GoF pattern was avoided to keep the code readable, but responsibility separation is still clear and modular.</a:t>
            </a:r>
            <a:endParaRPr lang="en-US" sz="141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FC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Highlight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0808208" y="29260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12213A">
              <a:alpha val="88000"/>
            </a:srgbClr>
          </a:solidFill>
          <a:ln w="12700">
            <a:solidFill>
              <a:srgbClr val="334A6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08208" y="310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6C6D8"/>
                </a:solidFill>
              </a:rPr>
              <a:t>4/5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5240">
            <a:solidFill>
              <a:srgbClr val="334A62">
                <a:alpha val="8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143000"/>
            <a:ext cx="6080760" cy="5212080"/>
          </a:xfrm>
          <a:prstGeom prst="roundRect">
            <a:avLst>
              <a:gd name="adj" fmla="val 2456"/>
            </a:avLst>
          </a:prstGeom>
          <a:solidFill>
            <a:srgbClr val="0E1728"/>
          </a:solidFill>
          <a:ln w="15240">
            <a:solidFill>
              <a:srgbClr val="2636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143000"/>
            <a:ext cx="6080760" cy="310896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07008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D2E1"/>
                </a:solidFill>
              </a:rPr>
              <a:t>HospitalManager.bookAppointment()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1581912"/>
            <a:ext cx="5751576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 existingAppointment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findBookedAppointmentByDoctorAndSlot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existingAppointment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appointments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newAppointment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"Appointment booked successfully."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newPriority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getPriorityValue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getPriorityType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oldPriority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getPriorityValue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existingAppointment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getPriorityType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newPriority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oldPriority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nextSlot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suggestNextAvailableSlot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existingAppointment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existingAppointment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"Rescheduled"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appointments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newAppointment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"Higher priority patient booked."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22592" y="1143000"/>
            <a:ext cx="4507992" cy="2011680"/>
          </a:xfrm>
          <a:prstGeom prst="roundRect">
            <a:avLst>
              <a:gd name="adj" fmla="val 6364"/>
            </a:avLst>
          </a:prstGeom>
          <a:solidFill>
            <a:srgbClr val="121C2F"/>
          </a:solidFill>
          <a:ln w="15240">
            <a:solidFill>
              <a:srgbClr val="334A62">
                <a:alpha val="8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51192" y="1316736"/>
            <a:ext cx="1572768" cy="256032"/>
          </a:xfrm>
          <a:prstGeom prst="roundRect">
            <a:avLst>
              <a:gd name="adj" fmla="val 25000"/>
            </a:avLst>
          </a:prstGeom>
          <a:solidFill>
            <a:srgbClr val="3DDC97">
              <a:alpha val="86000"/>
            </a:srgbClr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51192" y="133502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DESIGN DECISION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269480" y="1737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3F7FC"/>
                </a:solidFill>
              </a:rPr>
              <a:t>Chosen logic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26948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B6C6D8"/>
                </a:solidFill>
              </a:rPr>
              <a:t>Reschedule a lower-priority booking instead of rejecting an emergency request.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7269480" y="2468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3F7FC"/>
                </a:solidFill>
              </a:rPr>
              <a:t>Why chosen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7269480" y="26974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B6C6D8"/>
                </a:solidFill>
              </a:rPr>
              <a:t>This makes the system realistic for hospital use, demonstrates non-trivial business logic, and still stays understandable for a beginner.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022592" y="3401568"/>
            <a:ext cx="4507992" cy="2953512"/>
          </a:xfrm>
          <a:prstGeom prst="roundRect">
            <a:avLst>
              <a:gd name="adj" fmla="val 4334"/>
            </a:avLst>
          </a:prstGeom>
          <a:solidFill>
            <a:srgbClr val="121C2F"/>
          </a:solidFill>
          <a:ln w="15240">
            <a:solidFill>
              <a:srgbClr val="334A62">
                <a:alpha val="8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51192" y="3584448"/>
            <a:ext cx="1536192" cy="256032"/>
          </a:xfrm>
          <a:prstGeom prst="roundRect">
            <a:avLst>
              <a:gd name="adj" fmla="val 25000"/>
            </a:avLst>
          </a:prstGeom>
          <a:solidFill>
            <a:srgbClr val="F2C94C">
              <a:alpha val="86000"/>
            </a:srgbClr>
          </a:solidFill>
          <a:ln w="12700">
            <a:solidFill>
              <a:srgbClr val="F2C94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51192" y="3602736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THIS SHOWS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269480" y="3913632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 detection before booking a slot.
</a:t>
            </a:r>
            <a:r>
              <a:rPr lang="en-US" sz="15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comparison using a clear numeric rule.
</a:t>
            </a:r>
            <a:r>
              <a:rPr lang="en-US" sz="15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fallback through next-slot suggestion.
</a:t>
            </a:r>
            <a:r>
              <a:rPr lang="en-US" sz="15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update to Rescheduled for audit visibility.
</a:t>
            </a:r>
            <a:r>
              <a:rPr lang="en-US" sz="15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demo story than simple CRUD alone.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FC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Plan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0808208" y="29260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12213A">
              <a:alpha val="88000"/>
            </a:srgbClr>
          </a:solidFill>
          <a:ln w="12700">
            <a:solidFill>
              <a:srgbClr val="334A6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08208" y="310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6C6D8"/>
                </a:solidFill>
              </a:rPr>
              <a:t>5/5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5240">
            <a:solidFill>
              <a:srgbClr val="334A62">
                <a:alpha val="8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877825"/>
            <a:ext cx="6583680" cy="5896685"/>
          </a:xfrm>
          <a:prstGeom prst="roundRect">
            <a:avLst>
              <a:gd name="adj" fmla="val 2405"/>
            </a:avLst>
          </a:prstGeom>
          <a:solidFill>
            <a:srgbClr val="0E1728"/>
          </a:solidFill>
          <a:ln w="15240">
            <a:solidFill>
              <a:srgbClr val="2636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143000"/>
            <a:ext cx="6583680" cy="310896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0700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D2E1"/>
                </a:solidFill>
              </a:rPr>
              <a:t>Demo script (console run)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1755648"/>
            <a:ext cx="6254496" cy="4517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 Doctor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specialization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 Medicine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 Patient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Rahul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problem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priority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 Appointment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appointmentId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patientId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doctorId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AM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Appointment booked successfully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 Patient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problem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Chest Pain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priority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 same doctor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same slot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appointmentId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patientId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doctorId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AM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Higher priority patient booked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Existing appointment moved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AM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appointmentId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patientId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doctorId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AM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Invalid slot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3977640" cy="2176272"/>
          </a:xfrm>
          <a:prstGeom prst="roundRect">
            <a:avLst>
              <a:gd name="adj" fmla="val 5882"/>
            </a:avLst>
          </a:prstGeom>
          <a:solidFill>
            <a:srgbClr val="121C2F"/>
          </a:solidFill>
          <a:ln w="15240">
            <a:solidFill>
              <a:srgbClr val="334A62">
                <a:alpha val="8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26680" y="1316736"/>
            <a:ext cx="1783080" cy="256032"/>
          </a:xfrm>
          <a:prstGeom prst="roundRect">
            <a:avLst>
              <a:gd name="adj" fmla="val 25000"/>
            </a:avLst>
          </a:prstGeom>
          <a:solidFill>
            <a:srgbClr val="56CCF2">
              <a:alpha val="86000"/>
            </a:srgbClr>
          </a:solidFill>
          <a:ln w="12700">
            <a:solidFill>
              <a:srgbClr val="56CCF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3350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MEANINGFUL SCENARIO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26680" y="175564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one normal booking first.
</a:t>
            </a:r>
            <a:r>
              <a:rPr lang="en-US" sz="1500" b="1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shows why priority scheduling matters in a real hospital workflow.
</a:t>
            </a:r>
            <a:r>
              <a:rPr lang="en-US" sz="1500" b="1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audience clearly sees automatic rescheduling, not just rejection.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98080" y="3584448"/>
            <a:ext cx="3977640" cy="2880360"/>
          </a:xfrm>
          <a:prstGeom prst="roundRect">
            <a:avLst>
              <a:gd name="adj" fmla="val 4444"/>
            </a:avLst>
          </a:prstGeom>
          <a:solidFill>
            <a:srgbClr val="121C2F"/>
          </a:solidFill>
          <a:ln w="15240">
            <a:solidFill>
              <a:srgbClr val="334A62">
                <a:alpha val="8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26680" y="3767328"/>
            <a:ext cx="1755648" cy="256032"/>
          </a:xfrm>
          <a:prstGeom prst="roundRect">
            <a:avLst>
              <a:gd name="adj" fmla="val 25000"/>
            </a:avLst>
          </a:prstGeom>
          <a:solidFill>
            <a:srgbClr val="FF6B6B">
              <a:alpha val="86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378561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 HANDLING TO SHOW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26680" y="4187952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slot input returns a clear message.
</a:t>
            </a:r>
            <a:r>
              <a:rPr lang="en-US" sz="1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appointment IDs are rejected.
</a:t>
            </a:r>
            <a:r>
              <a:rPr lang="en-US" sz="1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Cancelled appointments are marked, not silently deleted.
</a:t>
            </a:r>
            <a:r>
              <a:rPr lang="en-US" sz="1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next slot exists, the system reports that gracefully.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26680" y="58704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6C6D8"/>
                </a:solidFill>
              </a:rPr>
              <a:t>Tip: during the presentation, narrate each step while typing so the examiner can connect the output to the design on slide 2 and the booking logic on slide 4.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FC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718589-134A-3850-38EC-4184E68C6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61" b="195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41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F834D-41D1-C8CC-75CB-4570C4118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467" b="32666"/>
          <a:stretch>
            <a:fillRect/>
          </a:stretch>
        </p:blipFill>
        <p:spPr>
          <a:xfrm>
            <a:off x="0" y="-100584"/>
            <a:ext cx="12192000" cy="706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29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06D06-0F99-27C4-117F-FFD0F5C9B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5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8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49BE2-B2E5-DD73-71DD-267FA3579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7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60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5E5E1-C898-C659-F94B-9782068C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3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29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40805-21DA-F5A2-A6C9-6B209860E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4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60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40563-C3EA-FF28-4C59-D0EEF1B18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4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06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64AB1-14F3-1228-06CC-CDCB03F6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3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04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4F897-8467-F9B6-061F-8BABC4C9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2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88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A5460-EBA5-5D25-8709-61621A878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7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94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598BFD-D3AA-8E00-17C7-DE684866A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29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B889A-CC8B-E3BF-7DCD-5B733E03CB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8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04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1022</Words>
  <Application>Microsoft Office PowerPoint</Application>
  <PresentationFormat>Widescreen</PresentationFormat>
  <Paragraphs>92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Appointment Management System with Priority Scheduling</dc:title>
  <dc:subject>Hospital Appointment Management System</dc:subject>
  <dc:creator>OpenAI</dc:creator>
  <cp:lastModifiedBy>Abhirup Pal</cp:lastModifiedBy>
  <cp:revision>2</cp:revision>
  <dcterms:created xsi:type="dcterms:W3CDTF">2026-03-29T05:37:02Z</dcterms:created>
  <dcterms:modified xsi:type="dcterms:W3CDTF">2026-03-29T06:02:41Z</dcterms:modified>
</cp:coreProperties>
</file>